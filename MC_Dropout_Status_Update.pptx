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 c_proj</c:v>
                </c:pt>
              </c:strCache>
            </c:strRef>
          </c:tx>
          <c:spPr>
            <a:solidFill>
              <a:srgbClr val="3B82F6"/>
            </a:solidFill>
            <a:ln w="381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T=16</c:v>
                  </c:pt>
                  <c:pt idx="1">
                    <c:v>T=32</c:v>
                  </c:pt>
                  <c:pt idx="2">
                    <c:v>T=64</c:v>
                  </c:pt>
                  <c:pt idx="3">
                    <c:v>T=128</c:v>
                  </c:pt>
                  <c:pt idx="4">
                    <c:v>T=256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0.307</c:v>
                </c:pt>
                <c:pt idx="1">
                  <c:v>0.311</c:v>
                </c:pt>
                <c:pt idx="2">
                  <c:v>0.43</c:v>
                </c:pt>
                <c:pt idx="3">
                  <c:v>0.581</c:v>
                </c:pt>
                <c:pt idx="4">
                  <c:v>0.739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Uniform</c:v>
                </c:pt>
              </c:strCache>
            </c:strRef>
          </c:tx>
          <c:spPr>
            <a:solidFill>
              <a:srgbClr val="94A3B8"/>
            </a:solidFill>
            <a:ln w="38100" cap="flat">
              <a:solidFill>
                <a:srgbClr val="94A3B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4A3B8"/>
              </a:solidFill>
              <a:ln w="9525" cap="flat">
                <a:solidFill>
                  <a:srgbClr val="94A3B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T=16</c:v>
                  </c:pt>
                  <c:pt idx="1">
                    <c:v>T=32</c:v>
                  </c:pt>
                  <c:pt idx="2">
                    <c:v>T=64</c:v>
                  </c:pt>
                  <c:pt idx="3">
                    <c:v>T=128</c:v>
                  </c:pt>
                  <c:pt idx="4">
                    <c:v>T=256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0.433</c:v>
                </c:pt>
                <c:pt idx="1">
                  <c:v>0.446</c:v>
                </c:pt>
                <c:pt idx="2">
                  <c:v>0.574</c:v>
                </c:pt>
                <c:pt idx="3">
                  <c:v>0.705</c:v>
                </c:pt>
                <c:pt idx="4">
                  <c:v>0.821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Forward passes (T)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2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Spearman reliability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8872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828800"/>
            <a:ext cx="7772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 Dropout Uncertainty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Vision-Language Models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640080" y="3246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Landscape of 30+ Experiments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3840480"/>
            <a:ext cx="109728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Franky  |  March 2026  |  Project Status Update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5156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430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MC Dropout on frozen vision encoders tell us which detections to trust?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 forward passes with stochastic dropout, measure feature variance.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variance = model is uncertain about this image.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24688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2834640"/>
            <a:ext cx="54864" cy="14630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2004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 tracking (MOT). A blurry, distant object should get higher uncertainty than a crisp close-up.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46120" y="2834640"/>
            <a:ext cx="246888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46120" y="2834640"/>
            <a:ext cx="54864" cy="14630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3429000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29000" y="3200400"/>
            <a:ext cx="2148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models, 5 perturbation types, 11 metrics, 36 modules. Where in this vast space does a valid, reliable signal exist?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0" y="2834640"/>
            <a:ext cx="265176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43600" y="2834640"/>
            <a:ext cx="54864" cy="1463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0" y="29077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26480" y="3200400"/>
            <a:ext cx="2331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elimination. Test each hypothesis statistically. Every null result maps a boundary. Build the complete landscape.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A1-A2 for full experiment algebra &amp; model registry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Elimination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null result closed a region and sharpened the theory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99032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12801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SigLIP2 is best model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794760" y="128016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FAIL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43560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715000" y="12801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 determines validity, not architecture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48640" y="1984248"/>
            <a:ext cx="8046720" cy="658368"/>
          </a:xfrm>
          <a:prstGeom prst="rect">
            <a:avLst/>
          </a:prstGeom>
          <a:solidFill>
            <a:srgbClr val="F4F6FA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4884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3000" y="202996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noise &gt; dropout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3794760" y="202996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ablation</a:t>
            </a:r>
            <a:endParaRPr lang="en-US" sz="10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2185416"/>
            <a:ext cx="228600" cy="2286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715000" y="202996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Jacobian sensitivity ≠ decision-boundary proximity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548640" y="2734056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98648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43000" y="277977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dropout rates help</a:t>
            </a:r>
            <a:endParaRPr lang="en-US" sz="1100" dirty="0"/>
          </a:p>
        </p:txBody>
      </p:sp>
      <p:sp>
        <p:nvSpPr>
          <p:cNvPr id="19" name="Text 12"/>
          <p:cNvSpPr/>
          <p:nvPr/>
        </p:nvSpPr>
        <p:spPr>
          <a:xfrm>
            <a:off x="3794760" y="277977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axes collapse</a:t>
            </a:r>
            <a:endParaRPr lang="en-US" sz="10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9240" y="2935224"/>
            <a:ext cx="228600" cy="2286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5715000" y="277977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signal only at low-p (probes redundancy)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>
            <a:off x="548640" y="3483864"/>
            <a:ext cx="8046720" cy="658368"/>
          </a:xfrm>
          <a:prstGeom prst="rect">
            <a:avLst/>
          </a:prstGeom>
          <a:solidFill>
            <a:srgbClr val="F4F6FA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648456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143000" y="352958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modules carry signal</a:t>
            </a:r>
            <a:endParaRPr lang="en-US" sz="1100" dirty="0"/>
          </a:p>
        </p:txBody>
      </p:sp>
      <p:sp>
        <p:nvSpPr>
          <p:cNvPr id="25" name="Text 16"/>
          <p:cNvSpPr/>
          <p:nvPr/>
        </p:nvSpPr>
        <p:spPr>
          <a:xfrm>
            <a:off x="3794760" y="352958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variance</a:t>
            </a:r>
            <a:endParaRPr lang="en-US" sz="100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9240" y="3685032"/>
            <a:ext cx="228600" cy="2286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5715000" y="35295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MLP projections matter</a:t>
            </a:r>
            <a:endParaRPr lang="en-US" sz="1050" dirty="0"/>
          </a:p>
        </p:txBody>
      </p:sp>
      <p:sp>
        <p:nvSpPr>
          <p:cNvPr id="28" name="Shape 18"/>
          <p:cNvSpPr/>
          <p:nvPr/>
        </p:nvSpPr>
        <p:spPr>
          <a:xfrm>
            <a:off x="548640" y="4233672"/>
            <a:ext cx="804672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pic>
        <p:nvPicPr>
          <p:cNvPr id="2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398264"/>
            <a:ext cx="320040" cy="32004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1143000" y="42793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modules &gt; targeted</a:t>
            </a:r>
            <a:endParaRPr lang="en-US" sz="1100" dirty="0"/>
          </a:p>
        </p:txBody>
      </p:sp>
      <p:sp>
        <p:nvSpPr>
          <p:cNvPr id="31" name="Text 20"/>
          <p:cNvSpPr/>
          <p:nvPr/>
        </p:nvSpPr>
        <p:spPr>
          <a:xfrm>
            <a:off x="37947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93.6% &gt; 86.8%</a:t>
            </a:r>
            <a:endParaRPr lang="en-US" sz="1000" dirty="0"/>
          </a:p>
        </p:txBody>
      </p:sp>
      <p:pic>
        <p:nvPicPr>
          <p:cNvPr id="3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9240" y="4434840"/>
            <a:ext cx="228600" cy="228600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5715000" y="4279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is more — 12 c_proj &gt; 36 uniform</a:t>
            </a:r>
            <a:endParaRPr lang="en-US" sz="1050" dirty="0"/>
          </a:p>
        </p:txBody>
      </p:sp>
      <p:sp>
        <p:nvSpPr>
          <p:cNvPr id="34" name="Text 22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A3 for full elimination table with statistical tests</a:t>
            </a:r>
            <a:endParaRPr lang="en-US" sz="900" dirty="0"/>
          </a:p>
        </p:txBody>
      </p:sp>
      <p:sp>
        <p:nvSpPr>
          <p:cNvPr id="35" name="Text 23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Scan: Where Is the Signal?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dropout strategies tested on CLIP B/32 — only MLP output projections carry useful variance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8046720" cy="3566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94560" y="123444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65960" y="4480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71800" y="4480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206240" y="123444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4480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212080" y="123444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3480" y="4480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217920" y="123444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89320" y="4480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223760" y="1234440"/>
            <a:ext cx="0" cy="320040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448056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66160" y="4663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Reliability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1234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only (12)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94560" y="1261872"/>
            <a:ext cx="27432" cy="329184"/>
          </a:xfrm>
          <a:prstGeom prst="rect">
            <a:avLst>
              <a:gd name="adj" fmla="val 133333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2267712" y="12344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175564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depth (12)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194560" y="1783080"/>
            <a:ext cx="975665" cy="329184"/>
          </a:xfrm>
          <a:prstGeom prst="rect">
            <a:avLst>
              <a:gd name="adj" fmla="val 11111"/>
            </a:avLst>
          </a:prstGeom>
          <a:solidFill>
            <a:srgbClr val="94A3B8"/>
          </a:solidFill>
          <a:ln/>
        </p:spPr>
      </p:sp>
      <p:sp>
        <p:nvSpPr>
          <p:cNvPr id="23" name="Text 21"/>
          <p:cNvSpPr/>
          <p:nvPr/>
        </p:nvSpPr>
        <p:spPr>
          <a:xfrm>
            <a:off x="3215945" y="175564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0.194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4360" y="2276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all (36)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194560" y="2304288"/>
            <a:ext cx="2605126" cy="329184"/>
          </a:xfrm>
          <a:prstGeom prst="rect">
            <a:avLst>
              <a:gd name="adj" fmla="val 11111"/>
            </a:avLst>
          </a:prstGeom>
          <a:solidFill>
            <a:srgbClr val="3B82F6"/>
          </a:solidFill>
          <a:ln/>
        </p:spPr>
      </p:sp>
      <p:sp>
        <p:nvSpPr>
          <p:cNvPr id="26" name="Text 24"/>
          <p:cNvSpPr/>
          <p:nvPr/>
        </p:nvSpPr>
        <p:spPr>
          <a:xfrm>
            <a:off x="4845406" y="22768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0.518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94360" y="279806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only (24)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194560" y="2825496"/>
            <a:ext cx="2640330" cy="329184"/>
          </a:xfrm>
          <a:prstGeom prst="rect">
            <a:avLst>
              <a:gd name="adj" fmla="val 11111"/>
            </a:avLst>
          </a:prstGeom>
          <a:solidFill>
            <a:srgbClr val="3B82F6"/>
          </a:solidFill>
          <a:ln/>
        </p:spPr>
      </p:sp>
      <p:sp>
        <p:nvSpPr>
          <p:cNvPr id="29" name="Text 27"/>
          <p:cNvSpPr/>
          <p:nvPr/>
        </p:nvSpPr>
        <p:spPr>
          <a:xfrm>
            <a:off x="4880610" y="2798064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33192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c_proj (1)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194560" y="3346704"/>
            <a:ext cx="3877513" cy="329184"/>
          </a:xfrm>
          <a:prstGeom prst="rect">
            <a:avLst>
              <a:gd name="adj" fmla="val 11111"/>
            </a:avLst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117793" y="3319272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0.771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94360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c_proj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194560" y="3867912"/>
            <a:ext cx="2162556" cy="329184"/>
          </a:xfrm>
          <a:prstGeom prst="rect">
            <a:avLst>
              <a:gd name="adj" fmla="val 11111"/>
            </a:avLst>
          </a:prstGeom>
          <a:solidFill>
            <a:srgbClr val="10B981"/>
          </a:solidFill>
          <a:ln/>
        </p:spPr>
      </p:sp>
      <p:sp>
        <p:nvSpPr>
          <p:cNvPr id="35" name="Text 33"/>
          <p:cNvSpPr/>
          <p:nvPr/>
        </p:nvSpPr>
        <p:spPr>
          <a:xfrm>
            <a:off x="4402836" y="384048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0" y="1371600"/>
            <a:ext cx="2743200" cy="13716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7" name="Text 35"/>
          <p:cNvSpPr/>
          <p:nvPr/>
        </p:nvSpPr>
        <p:spPr>
          <a:xfrm>
            <a:off x="5806440" y="146304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c_proj beats uniform (36 modules). Attention produces zero variance. Signal lives exclusively in MLP output projections.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A5 for full per-module scan data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Discovery: Training Loss Is Everything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05840"/>
            <a:ext cx="3840480" cy="457200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7899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51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 (Contrastive Softmax)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6002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compete in loss function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decision boundaries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disrupts boundaries → valid uncertainty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80-94% of degraded images → higher uncertainty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rho(entropy) = 0.25, AUROC = 0.67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Wilcoxon p &lt; 10⁻³⁰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005840"/>
            <a:ext cx="384048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54880" y="1005840"/>
            <a:ext cx="3840480" cy="45720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07899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57800" y="1051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SigLIP2  (Sigmoid Loss)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983480" y="1600200"/>
            <a:ext cx="3383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independent in loss function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encode stable binary representations</a:t>
            </a:r>
            <a:endParaRPr lang="en-US" sz="11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measures centroid distance, not ambiguity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75.6% of blurred images → LOWER uncertainty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rho(entropy) ≈ 0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 is an outlier detector, not ambiguity detector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434840"/>
            <a:ext cx="8046720" cy="4572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0"/>
          <p:cNvSpPr/>
          <p:nvPr/>
        </p:nvSpPr>
        <p:spPr>
          <a:xfrm>
            <a:off x="731520" y="445312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3 contrastive models (CLIP B/32, CLIP L/14, PE-Core-B/16). Theory predicts: contrastive loss → valid MC dropout.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A4 for full CLIP vs SigLIP2 derivation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 Is More: Targeted &gt; Uniform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every level of granularity, focusing on signal-carrying components outperformed blanket approaches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8016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level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468880" y="1325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uniform modules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600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86.8%</a:t>
            </a:r>
            <a:endParaRPr lang="en-US" sz="16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1536192"/>
            <a:ext cx="274320" cy="2743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572000" y="1325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c_proj only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0" y="1600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93.6%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309360" y="13533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12 attention (zero var) + 12 c_fc (noise dilution)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945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48640" y="219456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level (PE-Core)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4688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blocks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468880" y="25146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</a:t>
            </a:r>
            <a:endParaRPr lang="en-US" sz="16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2450592"/>
            <a:ext cx="274320" cy="2743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4572000" y="22402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3 blocks (7-9)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572000" y="25146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09360" y="22677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blocks produce overly robust features that dilute signal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548640" y="31089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48640" y="310896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4" name="Text 20"/>
          <p:cNvSpPr/>
          <p:nvPr/>
        </p:nvSpPr>
        <p:spPr>
          <a:xfrm>
            <a:off x="731520" y="3154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level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2468880" y="3154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768 dims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2468880" y="34290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93.6%</a:t>
            </a:r>
            <a:endParaRPr lang="en-US" sz="160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3364992"/>
            <a:ext cx="274320" cy="27432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4572000" y="3154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top dims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4572000" y="34290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6309360" y="31821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 overlap between MC uncertainty dims and discriminative dims</a:t>
            </a:r>
            <a:endParaRPr lang="en-US" sz="900" dirty="0"/>
          </a:p>
        </p:txBody>
      </p:sp>
      <p:sp>
        <p:nvSpPr>
          <p:cNvPr id="31" name="Shape 26"/>
          <p:cNvSpPr/>
          <p:nvPr/>
        </p:nvSpPr>
        <p:spPr>
          <a:xfrm>
            <a:off x="548640" y="40233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548640" y="4023360"/>
            <a:ext cx="54864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3" name="Text 28"/>
          <p:cNvSpPr/>
          <p:nvPr/>
        </p:nvSpPr>
        <p:spPr>
          <a:xfrm>
            <a:off x="731520" y="4069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for MOT</a:t>
            </a:r>
            <a:endParaRPr lang="en-US" sz="1100" dirty="0"/>
          </a:p>
        </p:txBody>
      </p:sp>
      <p:sp>
        <p:nvSpPr>
          <p:cNvPr id="34" name="Text 29"/>
          <p:cNvSpPr/>
          <p:nvPr/>
        </p:nvSpPr>
        <p:spPr>
          <a:xfrm>
            <a:off x="2468880" y="4069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512 dims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2468880" y="4343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93.6%</a:t>
            </a:r>
            <a:endParaRPr lang="en-US" sz="1600" dirty="0"/>
          </a:p>
        </p:txBody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80" y="4279392"/>
            <a:ext cx="274320" cy="27432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4572000" y="4069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K=32 PCA dims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4572000" y="43434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1600" dirty="0"/>
          </a:p>
        </p:txBody>
      </p:sp>
      <p:sp>
        <p:nvSpPr>
          <p:cNvPr id="39" name="Text 33"/>
          <p:cNvSpPr/>
          <p:nvPr/>
        </p:nvSpPr>
        <p:spPr>
          <a:xfrm>
            <a:off x="6309360" y="40965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enough for real-time Kalman filter (32KB projection)</a:t>
            </a:r>
            <a:endParaRPr lang="en-US" sz="900" dirty="0"/>
          </a:p>
        </p:txBody>
      </p:sp>
      <p:sp>
        <p:nvSpPr>
          <p:cNvPr id="40" name="Text 34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A5 for per-module scan results &amp; A6 for PE-Core sweep</a:t>
            </a:r>
            <a:endParaRPr lang="en-US" sz="900" dirty="0"/>
          </a:p>
        </p:txBody>
      </p:sp>
      <p:sp>
        <p:nvSpPr>
          <p:cNvPr id="41" name="Text 35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Dropout Rate Cliff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collapses above p = 0.01 — valid signal exists only at micro-perturbation scale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56692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4389120"/>
            <a:ext cx="5120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29768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31520" y="3611880"/>
            <a:ext cx="5120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35204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5120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274320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31520" y="2057400"/>
            <a:ext cx="5120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" y="196596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31520" y="1280160"/>
            <a:ext cx="512064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1887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31520" y="2057400"/>
            <a:ext cx="512064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657600" y="1856232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threshold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97280" y="1690543"/>
            <a:ext cx="822960" cy="2698577"/>
          </a:xfrm>
          <a:prstGeom prst="rect">
            <a:avLst>
              <a:gd name="adj" fmla="val 4444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1416223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4462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p=0.01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1720" y="3036722"/>
            <a:ext cx="822960" cy="1352398"/>
          </a:xfrm>
          <a:prstGeom prst="rect">
            <a:avLst>
              <a:gd name="adj" fmla="val 4444"/>
            </a:avLst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2331720" y="276240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43.5%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240280" y="4462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p=0.05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566160" y="3984955"/>
            <a:ext cx="822960" cy="404165"/>
          </a:xfrm>
          <a:prstGeom prst="rect">
            <a:avLst>
              <a:gd name="adj" fmla="val 9050"/>
            </a:avLst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3566160" y="3710635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474720" y="4462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p=0.10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4370832"/>
            <a:ext cx="822960" cy="18288"/>
          </a:xfrm>
          <a:prstGeom prst="rect">
            <a:avLst>
              <a:gd name="adj" fmla="val 200000"/>
            </a:avLst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4800600" y="409651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709160" y="44622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p=0.20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103120" y="466344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Rate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 rot="16200000">
            <a:off x="73152" y="201168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(%)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00800" y="1371600"/>
            <a:ext cx="22860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00800" y="1371600"/>
            <a:ext cx="54864" cy="1188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3" name="Text 31"/>
          <p:cNvSpPr/>
          <p:nvPr/>
        </p:nvSpPr>
        <p:spPr>
          <a:xfrm>
            <a:off x="6583680" y="144475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spot: p=0.01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83680" y="17373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Probes computational redundancy at decision boundaries. 1% of neurons dropped per pass.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0" y="2743200"/>
            <a:ext cx="22860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2743200"/>
            <a:ext cx="54864" cy="1188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281635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&gt;= 0.05: collapse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6583680" y="3108960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disruption measures feature complexity (like Gaussian), not classification difficulty. Signal inverts.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0" y="4114800"/>
            <a:ext cx="2286000" cy="5486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41148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86.8%</a:t>
            </a:r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-&gt;  </a:t>
            </a:r>
            <a:pPr algn="ctr" indent="0" marL="0">
              <a:buNone/>
            </a:pPr>
            <a:r>
              <a:rPr lang="en-US" sz="20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0.5%</a:t>
            </a:r>
            <a:endParaRPr lang="en-US" sz="2000" dirty="0"/>
          </a:p>
        </p:txBody>
      </p:sp>
      <p:sp>
        <p:nvSpPr>
          <p:cNvPr id="41" name="Text 39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Metric Ranking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uncertainty metrics tested on CLIP B/32 all-c_proj — weighted_trace_pre achieves 96.4%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5943600" cy="37947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3120" y="118872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46908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3131820" y="118872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48940" y="46908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4160520" y="118872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46908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189220" y="118872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06340" y="46908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35040" y="469087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5189220" y="1188720"/>
            <a:ext cx="0" cy="347472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594360" y="1188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weighted_trace_pre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103120" y="1207008"/>
            <a:ext cx="3966667" cy="237744"/>
          </a:xfrm>
          <a:prstGeom prst="rect">
            <a:avLst>
              <a:gd name="adj" fmla="val 11538"/>
            </a:avLst>
          </a:prstGeom>
          <a:solidFill>
            <a:srgbClr val="10B981"/>
          </a:solidFill>
          <a:ln/>
        </p:spPr>
      </p:sp>
      <p:sp>
        <p:nvSpPr>
          <p:cNvPr id="18" name="Text 16"/>
          <p:cNvSpPr/>
          <p:nvPr/>
        </p:nvSpPr>
        <p:spPr>
          <a:xfrm>
            <a:off x="6097219" y="118872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594360" y="15270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topk64_trace_pre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103120" y="1545336"/>
            <a:ext cx="3925519" cy="237744"/>
          </a:xfrm>
          <a:prstGeom prst="rect">
            <a:avLst>
              <a:gd name="adj" fmla="val 11538"/>
            </a:avLst>
          </a:prstGeom>
          <a:solidFill>
            <a:srgbClr val="3B82F6"/>
          </a:solidFill>
          <a:ln/>
        </p:spPr>
      </p:sp>
      <p:sp>
        <p:nvSpPr>
          <p:cNvPr id="21" name="Text 19"/>
          <p:cNvSpPr/>
          <p:nvPr/>
        </p:nvSpPr>
        <p:spPr>
          <a:xfrm>
            <a:off x="6056071" y="152704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95.4%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4360" y="186537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trace_pre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103120" y="1883664"/>
            <a:ext cx="3851453" cy="237744"/>
          </a:xfrm>
          <a:prstGeom prst="rect">
            <a:avLst>
              <a:gd name="adj" fmla="val 11538"/>
            </a:avLst>
          </a:prstGeom>
          <a:solidFill>
            <a:srgbClr val="3B82F6"/>
          </a:solidFill>
          <a:ln/>
        </p:spPr>
      </p:sp>
      <p:sp>
        <p:nvSpPr>
          <p:cNvPr id="24" name="Text 22"/>
          <p:cNvSpPr/>
          <p:nvPr/>
        </p:nvSpPr>
        <p:spPr>
          <a:xfrm>
            <a:off x="5982005" y="186537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93.6%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" y="2203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max_dim_var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221992"/>
            <a:ext cx="3678631" cy="237744"/>
          </a:xfrm>
          <a:prstGeom prst="rect">
            <a:avLst>
              <a:gd name="adj" fmla="val 11538"/>
            </a:avLst>
          </a:prstGeom>
          <a:solidFill>
            <a:srgbClr val="3B82F6"/>
          </a:solidFill>
          <a:ln/>
        </p:spPr>
      </p:sp>
      <p:sp>
        <p:nvSpPr>
          <p:cNvPr id="27" name="Text 25"/>
          <p:cNvSpPr/>
          <p:nvPr/>
        </p:nvSpPr>
        <p:spPr>
          <a:xfrm>
            <a:off x="5809183" y="220370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89.4%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94360" y="25420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trace_post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103120" y="2560320"/>
            <a:ext cx="3374136" cy="237744"/>
          </a:xfrm>
          <a:prstGeom prst="rect">
            <a:avLst>
              <a:gd name="adj" fmla="val 11538"/>
            </a:avLst>
          </a:prstGeom>
          <a:solidFill>
            <a:srgbClr val="3B82F6"/>
          </a:solidFill>
          <a:ln/>
        </p:spPr>
      </p:sp>
      <p:sp>
        <p:nvSpPr>
          <p:cNvPr id="30" name="Text 28"/>
          <p:cNvSpPr/>
          <p:nvPr/>
        </p:nvSpPr>
        <p:spPr>
          <a:xfrm>
            <a:off x="5504688" y="25420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82.0%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94360" y="28803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norm_var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03120" y="2898648"/>
            <a:ext cx="3349447" cy="237744"/>
          </a:xfrm>
          <a:prstGeom prst="rect">
            <a:avLst>
              <a:gd name="adj" fmla="val 11538"/>
            </a:avLst>
          </a:prstGeom>
          <a:solidFill>
            <a:srgbClr val="3B82F6"/>
          </a:solidFill>
          <a:ln/>
        </p:spPr>
      </p:sp>
      <p:sp>
        <p:nvSpPr>
          <p:cNvPr id="33" name="Text 31"/>
          <p:cNvSpPr/>
          <p:nvPr/>
        </p:nvSpPr>
        <p:spPr>
          <a:xfrm>
            <a:off x="5479999" y="288036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81.4%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94360" y="321868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top_eigenvalue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03120" y="3236976"/>
            <a:ext cx="3250692" cy="237744"/>
          </a:xfrm>
          <a:prstGeom prst="rect">
            <a:avLst>
              <a:gd name="adj" fmla="val 11538"/>
            </a:avLst>
          </a:prstGeom>
          <a:solidFill>
            <a:srgbClr val="3B82F6"/>
          </a:solidFill>
          <a:ln/>
        </p:spPr>
      </p:sp>
      <p:sp>
        <p:nvSpPr>
          <p:cNvPr id="36" name="Text 34"/>
          <p:cNvSpPr/>
          <p:nvPr/>
        </p:nvSpPr>
        <p:spPr>
          <a:xfrm>
            <a:off x="5381244" y="32186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79.0%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94360" y="355701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spectral_entropy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103120" y="3575304"/>
            <a:ext cx="2361895" cy="237744"/>
          </a:xfrm>
          <a:prstGeom prst="rect">
            <a:avLst>
              <a:gd name="adj" fmla="val 11538"/>
            </a:avLst>
          </a:prstGeom>
          <a:solidFill>
            <a:srgbClr val="F59E0B"/>
          </a:solidFill>
          <a:ln/>
        </p:spPr>
      </p:sp>
      <p:sp>
        <p:nvSpPr>
          <p:cNvPr id="39" name="Text 37"/>
          <p:cNvSpPr/>
          <p:nvPr/>
        </p:nvSpPr>
        <p:spPr>
          <a:xfrm>
            <a:off x="4492447" y="355701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57.4%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94360" y="389534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effective_rank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103120" y="3913632"/>
            <a:ext cx="2139696" cy="237744"/>
          </a:xfrm>
          <a:prstGeom prst="rect">
            <a:avLst>
              <a:gd name="adj" fmla="val 11538"/>
            </a:avLst>
          </a:prstGeom>
          <a:solidFill>
            <a:srgbClr val="F59E0B"/>
          </a:solidFill>
          <a:ln/>
        </p:spPr>
      </p:sp>
      <p:sp>
        <p:nvSpPr>
          <p:cNvPr id="42" name="Text 40"/>
          <p:cNvSpPr/>
          <p:nvPr/>
        </p:nvSpPr>
        <p:spPr>
          <a:xfrm>
            <a:off x="4270248" y="38953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94360" y="42336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top1_ratio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103120" y="4251960"/>
            <a:ext cx="2123237" cy="237744"/>
          </a:xfrm>
          <a:prstGeom prst="rect">
            <a:avLst>
              <a:gd name="adj" fmla="val 11538"/>
            </a:avLst>
          </a:prstGeom>
          <a:solidFill>
            <a:srgbClr val="F59E0B"/>
          </a:solidFill>
          <a:ln/>
        </p:spPr>
      </p:sp>
      <p:sp>
        <p:nvSpPr>
          <p:cNvPr id="45" name="Text 43"/>
          <p:cNvSpPr/>
          <p:nvPr/>
        </p:nvSpPr>
        <p:spPr>
          <a:xfrm>
            <a:off x="4253789" y="423367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51.6%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834640" y="4846320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Validity (blur_r5)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583680" y="1188720"/>
            <a:ext cx="2103120" cy="1645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6675120" y="1280160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</a:t>
            </a:r>
            <a:endParaRPr lang="en-US" sz="3600" dirty="0"/>
          </a:p>
          <a:p>
            <a:pPr algn="ctr" indent="0" marL="0">
              <a:buNone/>
            </a:pPr>
            <a:endParaRPr lang="en-US" sz="3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weighted_trace_pre</a:t>
            </a:r>
            <a:endParaRPr lang="en-US" sz="36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Dims weighted by discriminative power</a:t>
            </a:r>
            <a:endParaRPr lang="en-US" sz="3600" dirty="0"/>
          </a:p>
        </p:txBody>
      </p:sp>
      <p:sp>
        <p:nvSpPr>
          <p:cNvPr id="49" name="Shape 47"/>
          <p:cNvSpPr/>
          <p:nvPr/>
        </p:nvSpPr>
        <p:spPr>
          <a:xfrm>
            <a:off x="6583680" y="3017520"/>
            <a:ext cx="21031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583680" y="30175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1" name="Text 49"/>
          <p:cNvSpPr/>
          <p:nvPr/>
        </p:nvSpPr>
        <p:spPr>
          <a:xfrm>
            <a:off x="6766560" y="3090672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works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766560" y="338328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each dim's MC variance by its across-image discriminative power. Dims that vary more across images encode visual distinctions dropout can probe.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A9 for full metric comparison table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Reliability-Validity Landscape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822960"/>
            <a:ext cx="53035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438912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29768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22960" y="352044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42900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822960" y="265176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56032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78308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69164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22960" y="914400"/>
            <a:ext cx="47548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822960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822960" y="91440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687484" y="91440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04604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552007" y="91440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69127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416531" y="91440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33651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281055" y="91440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98175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145578" y="914400"/>
            <a:ext cx="0" cy="347472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62698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05840" y="464515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(Spearman)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 rot="16200000">
            <a:off x="91440" y="201168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(%)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22960" y="1783080"/>
            <a:ext cx="4754880" cy="0"/>
          </a:xfrm>
          <a:prstGeom prst="line">
            <a:avLst/>
          </a:prstGeom>
          <a:noFill/>
          <a:ln w="12700">
            <a:solidFill>
              <a:srgbClr val="F59E0B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2651760" y="160020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pass threshold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626822" y="1081918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1" name="Text 29"/>
          <p:cNvSpPr/>
          <p:nvPr/>
        </p:nvSpPr>
        <p:spPr>
          <a:xfrm>
            <a:off x="2754838" y="106363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c_proj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015857" y="1318199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3" name="Text 31"/>
          <p:cNvSpPr/>
          <p:nvPr/>
        </p:nvSpPr>
        <p:spPr>
          <a:xfrm>
            <a:off x="3143873" y="1299911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010060" y="1617025"/>
            <a:ext cx="109728" cy="10972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35" name="Text 33"/>
          <p:cNvSpPr/>
          <p:nvPr/>
        </p:nvSpPr>
        <p:spPr>
          <a:xfrm>
            <a:off x="4138076" y="1598737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L/14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5082069" y="3451677"/>
            <a:ext cx="109728" cy="10972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7" name="Text 35"/>
          <p:cNvSpPr/>
          <p:nvPr/>
        </p:nvSpPr>
        <p:spPr>
          <a:xfrm>
            <a:off x="4131093" y="3433389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 blk11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991294" y="2266798"/>
            <a:ext cx="109728" cy="109728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9" name="Text 37"/>
          <p:cNvSpPr/>
          <p:nvPr/>
        </p:nvSpPr>
        <p:spPr>
          <a:xfrm>
            <a:off x="4040318" y="224851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 all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194560" y="4754880"/>
            <a:ext cx="73152" cy="73152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41" name="Text 39"/>
          <p:cNvSpPr/>
          <p:nvPr/>
        </p:nvSpPr>
        <p:spPr>
          <a:xfrm>
            <a:off x="2331720" y="47091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configs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566160" y="4754880"/>
            <a:ext cx="73152" cy="73152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3" name="Text 41"/>
          <p:cNvSpPr/>
          <p:nvPr/>
        </p:nvSpPr>
        <p:spPr>
          <a:xfrm>
            <a:off x="3703320" y="47091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configs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126480" y="1097280"/>
            <a:ext cx="25603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6126480" y="109728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6" name="Text 44"/>
          <p:cNvSpPr/>
          <p:nvPr/>
        </p:nvSpPr>
        <p:spPr>
          <a:xfrm>
            <a:off x="6309360" y="11704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c_proj p=0.01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30936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93.6% / 0.43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validity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26480" y="1965960"/>
            <a:ext cx="25603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6126480" y="1965960"/>
            <a:ext cx="54864" cy="7315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0" name="Text 48"/>
          <p:cNvSpPr/>
          <p:nvPr/>
        </p:nvSpPr>
        <p:spPr>
          <a:xfrm>
            <a:off x="6309360" y="203911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p=0.01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6309360" y="23317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86.8% / 0.52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reliability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126480" y="2834640"/>
            <a:ext cx="2560320" cy="731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6126480" y="2834640"/>
            <a:ext cx="54864" cy="7315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290779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blk11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6309360" y="32004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25.4% / 0.998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measurement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26480" y="3794760"/>
            <a:ext cx="2560320" cy="8229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57" name="Text 55"/>
          <p:cNvSpPr/>
          <p:nvPr/>
        </p:nvSpPr>
        <p:spPr>
          <a:xfrm>
            <a:off x="626364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 is fundamental: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= valid but noisy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= reliable but wrong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A7 for full tradeoff data &amp; perturbation analysis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Operating Point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234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960120"/>
            <a:ext cx="54864" cy="12344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9601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0B98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96.4%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3017520" y="100584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validity (blur) with weighted_trace_pre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97.0% on downsample  |  Best metric ever measured in this project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80467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244144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ViT-B/32 (88M params, 176MB fp16)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8046720" cy="41148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91693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2916936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c_proj (MLP output projections only)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374136"/>
            <a:ext cx="80467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924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3392424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0.01 (1% of neurons per pass)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49624"/>
            <a:ext cx="8046720" cy="411480"/>
          </a:xfrm>
          <a:prstGeom prst="rect">
            <a:avLst/>
          </a:prstGeom>
          <a:solidFill>
            <a:srgbClr val="F4F6F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8679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194560" y="386791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weighted_trace_pre (dims weighted by discriminative power)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25112"/>
            <a:ext cx="80467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43434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194560" y="43434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64-256 (Spearman 0.43 → 0.74, scales as O(√T))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A8 for T-scaling data &amp; A9 for metric comparison table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Cross-Model Validation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generalizes across contrastive VLMs with model-specific tuning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234440"/>
            <a:ext cx="265176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12984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0391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c_proj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273405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2898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weighted_trace_pre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5800" y="316382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validity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85800" y="33284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3593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validity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85800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97.0%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40233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85800" y="41879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0.43 (T=64)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123444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83280" y="1234440"/>
            <a:ext cx="265176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12618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L/14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120640" y="12984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520440" y="18745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20440" y="20391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304M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520440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520440" y="2468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c_proj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20440" y="273405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520440" y="2898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trace_pre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520440" y="316382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validity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520440" y="33284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78.2%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20440" y="3593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validity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520440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78.8%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520440" y="40233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520440" y="41879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 (T=64)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1234440"/>
            <a:ext cx="265176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217920" y="1234440"/>
            <a:ext cx="2651760" cy="5029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8" name="Text 36"/>
          <p:cNvSpPr/>
          <p:nvPr/>
        </p:nvSpPr>
        <p:spPr>
          <a:xfrm>
            <a:off x="6355080" y="12618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PE-Core-B/16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955280" y="1298448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355080" y="18745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55080" y="20391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355080" y="2304288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55080" y="246888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Late-3 fc2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355080" y="273405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55080" y="2898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weighted_trace_pre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355080" y="316382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validity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6355080" y="33284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355080" y="359359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validity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55080" y="3758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84.4%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355080" y="40233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355080" y="418795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 (T=64)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A6 for PE-Core sweep details &amp; A10 for L/14 data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Profiles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80467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914400"/>
            <a:ext cx="64008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91440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9875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28016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74720" y="9875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T=64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0" y="987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Val: 97%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03520" y="9875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Rel: 0.43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0" y="1325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objects × T=64 = 640 samples, fits in 1.9GB VRAM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1920240"/>
            <a:ext cx="80467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1920240"/>
            <a:ext cx="64008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202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1993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3 Pipeline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28600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PE-Core-B/16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19933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T=64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297680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Val: 94%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Rel: 0.82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7472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SAM 3 backbone — zero additional model cost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2926080"/>
            <a:ext cx="80467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2926080"/>
            <a:ext cx="64008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29260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371600" y="29992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Screening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329184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74720" y="29992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T=256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297680" y="2999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Val: 97%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303520" y="29992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Rel: 0.74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47472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images in ~7 hours on A100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3931920"/>
            <a:ext cx="804672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" y="3931920"/>
            <a:ext cx="640080" cy="86868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93192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371600" y="4005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Safety-Critical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371600" y="4297680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474720" y="40050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T=256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297680" y="4005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Val: 97%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03520" y="4005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Rel: 0.74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474720" y="4343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Calibrated threshold on known-degraded validation set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A11 for VRAM requirements &amp; deployment flowchart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 Scales as O(√T)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predictable cost-reliability curve for any deployment budget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18872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188720"/>
            <a:ext cx="274320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943600" y="1188720"/>
            <a:ext cx="54864" cy="137160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1261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tradeoff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126480" y="155448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12-c_proj has lower reliability at each T but much higher validity (93.6% vs 86.8%). Choose your operating point based on whether you need precise rankings or correct direction.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943600" y="2834640"/>
            <a:ext cx="2743200" cy="13716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6080760" y="2926080"/>
            <a:ext cx="2468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Embarrassingly parallel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sequential dependency between passes. Batch N×T samples in one forward call.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A8 for raw T-scaling numbers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Know For Certain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78992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03327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loss (softmax) is required for valid MC dropout uncertainty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051560" y="1481328"/>
            <a:ext cx="7498080" cy="0"/>
          </a:xfrm>
          <a:prstGeom prst="line">
            <a:avLst/>
          </a:prstGeom>
          <a:noFill/>
          <a:ln w="6350">
            <a:solidFill>
              <a:srgbClr val="1A2744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9344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56362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All-c_proj dropout at p=0.01 is the best operating point (93.6-97% validity)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051560" y="2011680"/>
            <a:ext cx="7498080" cy="0"/>
          </a:xfrm>
          <a:prstGeom prst="line">
            <a:avLst/>
          </a:prstGeom>
          <a:noFill/>
          <a:ln w="6350">
            <a:solidFill>
              <a:srgbClr val="1A2744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13969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51560" y="2093976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modules contribute zero variance — only MLP projections matter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1051560" y="2542032"/>
            <a:ext cx="7498080" cy="0"/>
          </a:xfrm>
          <a:prstGeom prst="line">
            <a:avLst/>
          </a:prstGeom>
          <a:noFill/>
          <a:ln w="6350">
            <a:solidFill>
              <a:srgbClr val="1A2744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2670048"/>
            <a:ext cx="274320" cy="2743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51560" y="262432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weighted_trace_pre is the best metric (97.0% ablation on downsample)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1051560" y="3072384"/>
            <a:ext cx="7498080" cy="0"/>
          </a:xfrm>
          <a:prstGeom prst="line">
            <a:avLst/>
          </a:prstGeom>
          <a:noFill/>
          <a:ln w="6350">
            <a:solidFill>
              <a:srgbClr val="1A2744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200400"/>
            <a:ext cx="274320" cy="27432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51560" y="315468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scales O(√T): predictable cost curve from T=16 to T=256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1051560" y="3602736"/>
            <a:ext cx="7498080" cy="0"/>
          </a:xfrm>
          <a:prstGeom prst="line">
            <a:avLst/>
          </a:prstGeom>
          <a:noFill/>
          <a:ln w="6350">
            <a:solidFill>
              <a:srgbClr val="1A2744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730752"/>
            <a:ext cx="274320" cy="27432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051560" y="3685032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generalizes: CLIP B/32, CLIP L/14, PE-Core-B/16 all confirmed</a:t>
            </a:r>
            <a:endParaRPr lang="en-US" sz="1300" dirty="0"/>
          </a:p>
        </p:txBody>
      </p:sp>
      <p:sp>
        <p:nvSpPr>
          <p:cNvPr id="21" name="Shape 13"/>
          <p:cNvSpPr/>
          <p:nvPr/>
        </p:nvSpPr>
        <p:spPr>
          <a:xfrm>
            <a:off x="1051560" y="4133088"/>
            <a:ext cx="7498080" cy="0"/>
          </a:xfrm>
          <a:prstGeom prst="line">
            <a:avLst/>
          </a:prstGeom>
          <a:noFill/>
          <a:ln w="6350">
            <a:solidFill>
              <a:srgbClr val="1A2744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4261104"/>
            <a:ext cx="274320" cy="274320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1051560" y="4215384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K=32 preserves 87% validity — Kalman filter integration is practical</a:t>
            </a:r>
            <a:endParaRPr lang="en-US" sz="1300" dirty="0"/>
          </a:p>
        </p:txBody>
      </p:sp>
      <p:sp>
        <p:nvSpPr>
          <p:cNvPr id="24" name="Text 15"/>
          <p:cNvSpPr/>
          <p:nvPr/>
        </p:nvSpPr>
        <p:spPr>
          <a:xfrm>
            <a:off x="548640" y="47091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hypotheses tested. Every alternative statistically excluded.</a:t>
            </a:r>
            <a:endParaRPr lang="en-US" sz="1100" dirty="0"/>
          </a:p>
        </p:txBody>
      </p:sp>
      <p:sp>
        <p:nvSpPr>
          <p:cNvPr id="25" name="Text 16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Frontier: What's Next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960120"/>
            <a:ext cx="54864" cy="7132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1498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MOT validation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28930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on actual tracking sequences. PCA analysis confirms the state vector is ready. Blocked on cost JSON.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0" y="101498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764792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1764792"/>
            <a:ext cx="54864" cy="7132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81965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+ dropout combination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09397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Gaussian reliability as prior, dropout passes as Bayesian updates. Could break the tradeoff.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0" y="1819656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2569464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569464"/>
            <a:ext cx="54864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243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 calibration curve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289864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uncertainty in physical units ("equivalent blur level"). Known degradation levels as calibration anchors.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498080" y="262432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374136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8640" y="3374136"/>
            <a:ext cx="54864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42900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3: Laplace comparison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37033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written. Compare MC dropout against projection-Laplace (BayesVLM). Benchmark speed &amp; quality.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98080" y="34290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4178808"/>
            <a:ext cx="804672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178808"/>
            <a:ext cx="54864" cy="7132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4233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writeup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45079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paper_outline_v3 framing. Central story: landscape mapping → unified theory → deployment guide.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498080" y="423367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47548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Appendix A12 for outdated documents flagged for update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645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Appendix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2560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data, full tables, and detailed derivations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08960"/>
            <a:ext cx="1371600" cy="27432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Experiment Algebra: 4 Independent Axes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28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84632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B/32, CLIP L/14, SigLIP2 B/16, SigLIP2 SO400M, 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models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Perturbation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Dropout, Gaussian, Scale × 36 modules × magnitude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 configs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Metrics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trace_pre, trace_post, weighted_trace, topk, max_dim, eigenvalue, etc.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metrics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Validation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 (ICC/SNR/Spearman), classification correlation, ablation, convergence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criteria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Registry &amp; Hardware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28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73152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B/32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CLIP L/14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304M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PE-Core-B/16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Contrastive softmax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B/16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SO400M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Dropped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Hardware: M3 Ultra Mac Studio (60 GPU cores, 96GB unified, MPS backend). Batch=500 is sweet spot.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Hypothesis Elimination Table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28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371600"/>
                <a:gridCol w="210312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Revealed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SigLIP2 is best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 paired ablation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 blurred → LOWER unc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loss → outlier detector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&gt; dropout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 ablation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 pass (FAIL)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Jacobian ≠ decision boundary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p helps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p=0.01–0.20 sweep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Monotonic degradation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only at low 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injection 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N=500, 4 configs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67.5% (FAIL)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Lipschitz constant is geometric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perturbation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N=500, K=5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Spearman=0.96, ~70% 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Neither axis optimized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Gaussian all modules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N=500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 val, 0.97 rel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 ≠ correctness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Attention modules useful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 out_proj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Exactly zero variance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 for all perturbation types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CLIP Works and SigLIP2 Doesn't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005840"/>
            <a:ext cx="8046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(contrastive softmax):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compete in loss. Features encode decision boundaries. Dropout disrupts boundaries → images near boundaries get pushed around more → valid uncertainty. Measured: rho(entropy)=0.25, ablation 80-94%.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SigLIP2 (sigmoid):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image-text pair independently classified. No inter-class competition. Dropout variance reflects centroid distance (geometric), not ambiguity. Blurring moves images toward centroid → LOWER uncertainty. Measured: rho(entropy)≈0, 75.6% blurred images less uncertain.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distinction: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loss creates inter-class competition that dropout can meaningfully disrupt.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 loss creates independent pathways that dropout disrupts along geometric axes unrelated to task difficulty.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Per-Module Scan: Top 10 Results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28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0"/>
                <a:gridCol w="10972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resblocks.11.mlp.c_proj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resblocks.10.mlp.c_proj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resblocks.5.mlp.c_fc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resblocks.3.mlp.c_fc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resblocks.3.mlp.c_proj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resblocks.1.mlp.c_fc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dropout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resblocks.4.mlp.c_fc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resblocks.0.mlp.c_proj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resblocks.5.mlp.c_proj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resblocks.3.mlp.c_fc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N=100, K=3, T=16, mag=0.05. All 12 attention out_proj modules = exactly zero variance. 11 of top 15 are Gaussian.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PE-Core-B/16: Configuration Sweep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28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down_8x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Late-3 fc2 p=0.01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Late-3 fc2 p=0.005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Late-3 fc2 (any 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88-89%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 PASS, down FAIL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 fc2 (any 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69-76%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54-64%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weak/FAIL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12 fc2 (any 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53-56%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35-39%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4747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factors rescued PE-Core: (1) late-block targeting, (2) weighted_trace_pre metric, (3) dropout rate insensitivity.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Reliability-Validity Tradeoff: Full Data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28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7160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c_proj p=0.01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 (T=64)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Best: targeted dropout on signal-carrying modules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p=0.01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 (T=64)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modules = more noise from non-signal sources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all c_proj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Measures Jacobian (wrong quantity), very reliable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Gaussian block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Single-layer Jacobian: perfectly reliable, inverted validity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p=0.05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p overwhelms representation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c_proj p=0.20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inversion: 99.5% degraded images LESS uncertain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after blk 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Lipschitz constant is geometric, not task-relevant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T-Scaling: Raw Numbers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28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011680"/>
                <a:gridCol w="201168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12-c_proj 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Spearman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SNR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B/32, N=500, K=5 trials. Both configs follow O(√T) scaling. Validity is constant (only T-dependent for reliability).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Metrics Compared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28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1188720"/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rho(entropy)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down_8x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weighted_trace_pre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topk64_trace_pre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trace_pre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Previous best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max_dim_var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norm_var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top_eigenvalue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effective_rank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spectral_entropy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CLIP L/14 Cross-Model Validation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28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097280"/>
                <a:gridCol w="109728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blur_r5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down_8x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24 c_proj p=0.01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Spearman=0.752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Uniform p=0.01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Spearman=0.838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 (&lt;75%)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Key: L/14 has HIGHER reliability (0.75 vs 0.43) but LOWER validity (78% vs 94%). Larger model = more robust features = less sensitive to perturbation. Confirms all-c_proj is the right strategy (passes on both sizes; uniform only passes on B/32).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VRAM Requirements &amp; Deployment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28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4572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objects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T=128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T=256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9.4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 GB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3291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B/32, fp16. T passes are embarrassingly parallel — batch N×T in one forward call.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0" y="1005840"/>
            <a:ext cx="320040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5623560" y="1097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Selection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23560" y="146304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PE-Core in pipeline?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YES -&gt; Profile B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  -&gt;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Real-time?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YES -&gt; Profile A (T=64, PCA K=32)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NO  -&gt;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Safety-critical?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YES -&gt; Profile D (calibrated)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NO  -&gt; Profile C (T=256)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Documents Flagged for Update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4800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05840"/>
          <a:ext cx="80467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30352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CONTEXT_HANDOFF.md (Feb 26)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"CLIP fails reliability gate" and recommends SigLIP2. Now fully reversed.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paper_outline_v3.md (pre-exp)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Proposes rho&gt;0.9 for rank stability across p. Actual: largely uncorrelated.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PHASE_ONE_REPORT.md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 says "proceed with SigLIP2, drop CLIP." Opposite is now true.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27432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documents contain conclusions that were correct at time of writing but are now superseded by subsequent experiments. They should be updated or annotated to prevent confusion.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 Dropout Uncertainty in Vision-Language Models</dc:title>
  <dc:subject>PptxGenJS Presentation</dc:subject>
  <dc:creator>Franky</dc:creator>
  <cp:lastModifiedBy>Franky</cp:lastModifiedBy>
  <cp:revision>1</cp:revision>
  <dcterms:created xsi:type="dcterms:W3CDTF">2026-03-05T04:19:46Z</dcterms:created>
  <dcterms:modified xsi:type="dcterms:W3CDTF">2026-03-05T04:19:46Z</dcterms:modified>
</cp:coreProperties>
</file>